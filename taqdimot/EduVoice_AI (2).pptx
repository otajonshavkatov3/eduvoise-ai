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[01 · 20 soniya]</a:t>
            </a:r>
          </a:p>
          <a:p>
            <a:r>
              <a:t>"Assalomu alaykum. Men Azizbek. Loyihamiz — EduVoice AI.</a:t>
            </a:r>
          </a:p>
          <a:p>
            <a:r>
              <a:t>Oliy ta'lim vazirligi bergan 5 ta muammodan uchtasini — 5, 3 va 4-raqamlilarini — bitta platforma bilan yopamiz.</a:t>
            </a:r>
          </a:p>
          <a:p>
            <a:r>
              <a:t>Bu g'oya emas: tizim allaqachon yozilgan va telefonda o'zbekcha gapiradi."</a:t>
            </a:r>
          </a:p>
          <a:p/>
          <a:p>
            <a:r>
              <a:t>MANBA: muammolar ro'yxati — "Xorazm dolzarb muammolar" hujjati, Oliy ta'lim, fan va innovatsiyalar vazirligi bo'limi.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[02 · 45 soniya]</a:t>
            </a:r>
          </a:p>
          <a:p>
            <a:r>
              <a:t>Asosiy gap: bu chatbot emas — telefonda gapiradigan operator.</a:t>
            </a:r>
          </a:p>
          <a:p>
            <a:r>
              <a:t>Fuqaro 1006 ga qo'ng'iroq qiladi, AI o'zbekcha javob beradi, tiket ochadi, kerak bo'lsa odamga uzatadi.</a:t>
            </a:r>
          </a:p>
          <a:p>
            <a:r>
              <a:t>215 ta OTM bitta o'rnatishda ishlaydi — har biri o'z bilim bazasi bilan.</a:t>
            </a:r>
          </a:p>
          <a:p/>
          <a:p>
            <a:r>
              <a:t>MANBA: 734-879 ms va 9 ta vosita — loyiha kodidan o'lchangan (gemini-live.ts, tools.ts).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[03 · 60 soniya — ENG MUHIM SLAYD]</a:t>
            </a:r>
          </a:p>
          <a:p>
            <a:r>
              <a:t>64% raqamini alohida ta'kidlang va pauza qiling.</a:t>
            </a:r>
          </a:p>
          <a:p>
            <a:r>
              <a:t>"2025-yilda Prezident vazirlikni murojaat bilan ishlashda eng yomon natija ko'rsatgan idora deb ataganida,</a:t>
            </a:r>
          </a:p>
          <a:p>
            <a:r>
              <a:t>gap sifatsiz javob haqida edi. Bizning tizim har bir murojaatni yozib oladi, tasniflaydi va javobsiz qoldirmaydi."</a:t>
            </a:r>
          </a:p>
          <a:p/>
          <a:p>
            <a:r>
              <a:t>MANBALAR:</a:t>
            </a:r>
          </a:p>
          <a:p>
            <a:r>
              <a:t>- 64% va Prezident tanqidi — 13.03.2026 videoselektor, yuz.uz / gazeta.uz</a:t>
            </a:r>
          </a:p>
          <a:p>
            <a:r>
              <a:t>- 4 572 murojaat, 85,4% elektron — vazirlik ma'lumoti, 2026-yil 6 oyi, infoedu.uz</a:t>
            </a:r>
          </a:p>
          <a:p>
            <a:r>
              <a:t>- 12 xodim / 6 liniya — Davlat test markazi call-markazi ochilishi, 03.08.2018, kun.uz</a:t>
            </a:r>
          </a:p>
          <a:p>
            <a:r>
              <a:t>- 1006 va (71) 230-64-64 — gov.uz rasmiy sahifasi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[04 · 50 soniya]</a:t>
            </a:r>
          </a:p>
          <a:p>
            <a:r>
              <a:t>Raqamlarni tez o'qing, pastdagi qizil qutida to'xtang.</a:t>
            </a:r>
          </a:p>
          <a:p>
            <a:r>
              <a:t>"42 ta operator kerak — hozir 6 ta liniya bor. Odam yollash bilan bu farq yopilmaydi."</a:t>
            </a:r>
          </a:p>
          <a:p/>
          <a:p>
            <a:r>
              <a:t>MANBALAR:</a:t>
            </a:r>
          </a:p>
          <a:p>
            <a:r>
              <a:t>- 677 907 abituriyent (2026) — Bilim va malakalarni baholash agentligi</a:t>
            </a:r>
          </a:p>
          <a:p>
            <a:r>
              <a:t>- 1 535 000 talaba / 215 OTM (2025/26) — Statistika qo'mitasi, kun.uz 19.06.2026</a:t>
            </a:r>
          </a:p>
          <a:p>
            <a:r>
              <a:t>- 58% telefon (6,9 mln / 11,87 mln) — murojaat.gov.uz hisoblagichi</a:t>
            </a:r>
          </a:p>
          <a:p>
            <a:r>
              <a:t>- 49 600 professor-o'qituvchi (2024/25) — stat.uz</a:t>
            </a:r>
          </a:p>
          <a:p>
            <a:r>
              <a:t>- 94,2% internet (2025) — Statistika qo'mitasi</a:t>
            </a:r>
          </a:p>
          <a:p>
            <a:r>
              <a:t>DIQQAT: oxirgi qator — BIZNING hisob-kitob. Savol berilsa: 677 907 × 30% ÷ 60 kun ≈ 3 400 qo'ng'iroq/kun;</a:t>
            </a:r>
          </a:p>
          <a:p>
            <a:r>
              <a:t>3 daqiqadan = 170 operator-soat; 8 soatlik smena va 50% band bo'lish bilan ≈ 42 operator.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[05 · 45 soniya]</a:t>
            </a:r>
          </a:p>
          <a:p>
            <a:r>
              <a:t>Diagrammani chapdan o'ngga barmoq bilan ko'rsating.</a:t>
            </a:r>
          </a:p>
          <a:p>
            <a:r>
              <a:t>"Telefon ovozi 8 kHz — biz uni qayta ishlamaymiz, to'g'ridan-to'g'ri modelga beramiz. Shuning uchun javob 1 soniyadan kam."</a:t>
            </a:r>
          </a:p>
          <a:p>
            <a:r>
              <a:t>Fallback IVR ni alohida ayting — davlat tizimida "AI ishlamay qolsa nima bo'ladi" degan savol albatta keladi.</a:t>
            </a:r>
          </a:p>
          <a:p/>
          <a:p>
            <a:r>
              <a:t>MANBA: barcha texnik raqamlar loyiha kodidan (gemini-live.ts, audiosocket.ts, fallback-ivr.ts).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[06 · 40 soniya]</a:t>
            </a:r>
          </a:p>
          <a:p>
            <a:r>
              <a:t>"Bu xakaton uchun 3 kunda yozilgan prototip emas."</a:t>
            </a:r>
          </a:p>
          <a:p>
            <a:r>
              <a:t>584 fayl, 121 ming qator, 52 test to'plami. Pastdagi raqamlarni ko'rsating.</a:t>
            </a:r>
          </a:p>
          <a:p>
            <a:r>
              <a:t>Agar demo so'ralsa — shu yerda jonli qo'ng'iroq qilib ko'rsatishga tayyor bo'ling.</a:t>
            </a:r>
          </a:p>
          <a:p/>
          <a:p>
            <a:r>
              <a:t>MANBA: repozitoriyadan o'lchangan (find + wc).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[07 · 40 soniya]</a:t>
            </a:r>
          </a:p>
          <a:p>
            <a:r>
              <a:t>TAM/SAM/SOM ni tez o'ting, SOM da to'xtang — hakamlar realistiklikni shu yerda tekshiradi.</a:t>
            </a:r>
          </a:p>
          <a:p>
            <a:r>
              <a:t>"SOM — bu bizning hisobimiz, tashqi hisobot emas. 215 OTM × 400 dollar."</a:t>
            </a:r>
          </a:p>
          <a:p/>
          <a:p>
            <a:r>
              <a:t>MANBALAR:</a:t>
            </a:r>
          </a:p>
          <a:p>
            <a:r>
              <a:t>- TAM $2,9 mlrd (2026) → $7,08 mlrd (2030), 23,8% — Grand View Research, Call Center AI Market</a:t>
            </a:r>
          </a:p>
          <a:p>
            <a:r>
              <a:t>- SAM $200 mln (2026) / $1,5 mlrd (2030) — PQ-358, 14.10.2024, lex.uz (Sun'iy intellekt rivojlantirish strategiyasi)</a:t>
            </a:r>
          </a:p>
          <a:p>
            <a:r>
              <a:t>- SOM — bizning modelimiz.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[08 · 50 soniya]</a:t>
            </a:r>
          </a:p>
          <a:p>
            <a:r>
              <a:t>"Bizning haqiqiy raqobatchimiz Vapi emas — Aisha AI va CyberNet AI.</a:t>
            </a:r>
          </a:p>
          <a:p>
            <a:r>
              <a:t>Ular o'zbekcha gapiradi, lekin ularda CRM ham, ko'p-ijaralilik ham yo'q.</a:t>
            </a:r>
          </a:p>
          <a:p>
            <a:r>
              <a:t>Global platformalar esa o'zbek tilini rasman umuman qo'llab-quvvatlamaydi."</a:t>
            </a:r>
          </a:p>
          <a:p/>
          <a:p>
            <a:r>
              <a:t>MANBALAR:</a:t>
            </a:r>
          </a:p>
          <a:p>
            <a:r>
              <a:t>- Twilio O'zbekistonga $0,1982/daq — twilio.com/voice/pricing/uz</a:t>
            </a:r>
          </a:p>
          <a:p>
            <a:r>
              <a:t>- Aisha AI: STT 425 so'm/daqiqa, Enterprise'da on-premise — aisha.group/pricing</a:t>
            </a:r>
          </a:p>
          <a:p>
            <a:r>
              <a:t>- CyberNet AI — turkiy tillar modeli, Toshkentda server, banklar va davlat tashkilotlari mijoz</a:t>
            </a:r>
          </a:p>
          <a:p>
            <a:r>
              <a:t>- Vapi/Retell/Bland — o'zbek tili hujjatlarda yo'q, ichki CRM yo'q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[09 · 40 soniya]</a:t>
            </a:r>
          </a:p>
          <a:p>
            <a:r>
              <a:t>Unit economics ni ayting: 400 so'm tannarx, 1 200 so'm narx, 67% marja.</a:t>
            </a:r>
          </a:p>
          <a:p>
            <a:r>
              <a:t>Savol kelsa: "Operator arzon-ku?" — javob: "Operator 8 soat ishlaydi va bir vaqtda bitta qo'ng'iroq oladi.</a:t>
            </a:r>
          </a:p>
          <a:p>
            <a:r>
              <a:t>Qabul mavsumidagi cho'qqi uchun 42 ta operator yollab, sentabrda bo'shatib bo'lmaydi."</a:t>
            </a:r>
          </a:p>
          <a:p/>
          <a:p>
            <a:r>
              <a:t>MANBA: tannarx — Gemini Live rasmiy narxi $0,005 kirish + $0,018 chiqish = $0,023/daq</a:t>
            </a:r>
          </a:p>
          <a:p>
            <a:r>
              <a:t>(kurs 11 833 so'm/$, MB, 18.09.2026) ≈ 272 so'm + SIP xarajati.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[10 · 45 soniya]</a:t>
            </a:r>
          </a:p>
          <a:p>
            <a:r>
              <a:t>Yuqori qator — tashqi tadqiqotlar, pastki yashil qator — bizning va'da.</a:t>
            </a:r>
          </a:p>
          <a:p>
            <a:r>
              <a:t>Eng oxirida qizil qutini o'qing: "Davlat bu yechimni allaqachon buyurtma qilgan."</a:t>
            </a:r>
          </a:p>
          <a:p/>
          <a:p>
            <a:r>
              <a:t>MANBALAR:</a:t>
            </a:r>
          </a:p>
          <a:p>
            <a:r>
              <a:t>- Gartner 05.03.2025 — 80% / 2029, xarajat -30%</a:t>
            </a:r>
          </a:p>
          <a:p>
            <a:r>
              <a:t>- Gartner 2022 — mehnat haqi call-markaz xarajatining 95%igacha</a:t>
            </a:r>
          </a:p>
          <a:p>
            <a:r>
              <a:t>- McKinsey 2025 — 40-50% kam operator, 20-30% ko'p qo'ng'iroq</a:t>
            </a:r>
          </a:p>
          <a:p>
            <a:r>
              <a:t>- Deloitte 02.2026 — tashkilotlarning 43%i</a:t>
            </a:r>
          </a:p>
          <a:p>
            <a:r>
              <a:t>- Vazirlar Mahkamasi qarori, 10.07.2025 — 60+ ustuvor AI loyihasi, ichida "ovozli robotlar bilan</a:t>
            </a:r>
          </a:p>
          <a:p>
            <a:r>
              <a:t>  avtomatlashtirilgan kontakt-markaz" (gazeta.uz, 21.07.2025)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[11 · 30 soniya]</a:t>
            </a:r>
          </a:p>
          <a:p>
            <a:r>
              <a:t>"Pilot uchun yangi server ham, yangi raqam ham kerak emas — mavjud infratuzilmada ishlaydi."</a:t>
            </a:r>
          </a:p>
          <a:p>
            <a:r>
              <a:t>1 yillik maqsadda o'z o'zbek ASR modelini ayting: ochiq NVIDIA FastConformer (CC-BY-4.0, 16,5% WER)</a:t>
            </a:r>
          </a:p>
          <a:p>
            <a:r>
              <a:t>va Navoiy TTS (Apache 2.0, 600 soat) asosida — ya'ni tashqi API ga bog'liqlikdan chiqamiz.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[12 · 20 soniya]</a:t>
            </a:r>
          </a:p>
          <a:p>
            <a:r>
              <a:t>Jamoa a'zolarini to'ldiring! Hozir 3 ta karta bo'sh.</a:t>
            </a:r>
          </a:p>
          <a:p>
            <a:r>
              <a:t>Yakuniy gap: "Muammo aniq, raqamlar rasmiy, tizim yozilgan. Bizga kerak bo'lgani — pilot."</a:t>
            </a:r>
          </a:p>
          <a:p>
            <a:r>
              <a:t>Rahmat va savollarga o'ting.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534B"/>
                </a:solidFill>
                <a:latin typeface="Consolas"/>
              </a:rPr>
              <a:t>Pitch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Calibri"/>
              </a:rPr>
              <a:t>Umummilliy AI Xakaton · Xorazm viloyati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32688"/>
            <a:ext cx="8229600" cy="324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932688"/>
            <a:ext cx="8229600" cy="54864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8720" y="1298448"/>
            <a:ext cx="1371600" cy="1371600"/>
          </a:xfrm>
          <a:prstGeom prst="rect">
            <a:avLst/>
          </a:prstGeom>
          <a:solidFill>
            <a:srgbClr val="1F2937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41732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onsolas"/>
              </a:rPr>
              <a:t>EV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05740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onsolas"/>
              </a:rPr>
              <a:t>EduVoice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353312"/>
            <a:ext cx="5577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EduVoice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2139696"/>
            <a:ext cx="5577840" cy="54864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2286000"/>
            <a:ext cx="5669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CA3AF"/>
                </a:solidFill>
                <a:latin typeface="Calibri"/>
              </a:rPr>
              <a:t>Oliy ta'lim uchun o'zbekcha gapiradigan AI call-markaz — har bir murojaat 1 soniyada javob oladi, 24/7, navbatsiz.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3127248"/>
            <a:ext cx="557784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3127248"/>
            <a:ext cx="50292" cy="77724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0" y="3255264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CA3AF"/>
                </a:solidFill>
                <a:latin typeface="Calibri"/>
              </a:rPr>
              <a:t>Yechiladigan muammolar:  </a:t>
            </a:r>
            <a:r>
              <a:rPr sz="1100" b="1">
                <a:solidFill>
                  <a:srgbClr val="E5534B"/>
                </a:solidFill>
                <a:latin typeface="Consolas"/>
              </a:rPr>
              <a:t>#5</a:t>
            </a:r>
            <a:r>
              <a:rPr sz="1000" b="0">
                <a:solidFill>
                  <a:srgbClr val="D1D5DB"/>
                </a:solidFill>
                <a:latin typeface="Calibri"/>
              </a:rPr>
              <a:t>  vazirlik call-markazini avtomatlashtirish  ·  </a:t>
            </a:r>
            <a:r>
              <a:rPr sz="1100" b="1">
                <a:solidFill>
                  <a:srgbClr val="E5534B"/>
                </a:solidFill>
                <a:latin typeface="Consolas"/>
              </a:rPr>
              <a:t>#3</a:t>
            </a:r>
            <a:r>
              <a:rPr sz="1000" b="0">
                <a:solidFill>
                  <a:srgbClr val="D1D5DB"/>
                </a:solidFill>
                <a:latin typeface="Calibri"/>
              </a:rPr>
              <a:t>  murojaatlarga avtomatik javob  ·  </a:t>
            </a:r>
            <a:r>
              <a:rPr sz="1100" b="1">
                <a:solidFill>
                  <a:srgbClr val="E5534B"/>
                </a:solidFill>
                <a:latin typeface="Consolas"/>
              </a:rPr>
              <a:t>#4</a:t>
            </a:r>
            <a:r>
              <a:rPr sz="1000" b="0">
                <a:solidFill>
                  <a:srgbClr val="D1D5DB"/>
                </a:solidFill>
                <a:latin typeface="Calibri"/>
              </a:rPr>
              <a:t>  talaba va o'qituvchi samaradorligi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370832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5534B"/>
                </a:solidFill>
                <a:latin typeface="Consolas"/>
              </a:rPr>
              <a:t>&gt;&gt;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47183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onsolas"/>
              </a:rPr>
              <a:t>#MilliyAIXakaton   #XorazmAI   2026</a:t>
            </a:r>
          </a:p>
        </p:txBody>
      </p:sp>
    </p:spTree>
  </p:cSld>
  <p:bg>
    <p:bgPr>
      <a:solidFill>
        <a:srgbClr val="0D1117"/>
      </a:solidFill>
      <a:effectLst/>
    </p:bgPr>
  </p:bg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E5534B"/>
                </a:solidFill>
                <a:latin typeface="Consola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Biz kimmiz va nima qurdik?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54864" cy="36576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94944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Oliy ta'lim vazirligi va uning 215 ta OTMsi uchun yagona ovozli AI platforma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07008"/>
            <a:ext cx="2926080" cy="3200400"/>
          </a:xfrm>
          <a:prstGeom prst="rect">
            <a:avLst/>
          </a:prstGeom>
          <a:solidFill>
            <a:srgbClr val="1A1025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07008"/>
            <a:ext cx="292608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" y="1481328"/>
            <a:ext cx="1920240" cy="1234440"/>
          </a:xfrm>
          <a:prstGeom prst="rect">
            <a:avLst/>
          </a:prstGeom>
          <a:solidFill>
            <a:srgbClr val="1F2937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37360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EduVoice</a:t>
            </a:r>
          </a:p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26080"/>
            <a:ext cx="24688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00" b="1">
                <a:solidFill>
                  <a:srgbClr val="E5534B"/>
                </a:solidFill>
                <a:latin typeface="Consolas"/>
              </a:rPr>
              <a:t>Asterisk 20</a:t>
            </a:r>
          </a:p>
          <a:p>
            <a:pPr algn="ctr">
              <a:lnSpc>
                <a:spcPct val="135000"/>
              </a:lnSpc>
            </a:pPr>
            <a:r>
              <a:rPr sz="950" b="0">
                <a:solidFill>
                  <a:srgbClr val="9CA3AF"/>
                </a:solidFill>
                <a:latin typeface="Consolas"/>
              </a:rPr>
              <a:t>+ Gemini Live (uz-UZ)</a:t>
            </a:r>
          </a:p>
          <a:p>
            <a:pPr algn="ctr">
              <a:lnSpc>
                <a:spcPct val="135000"/>
              </a:lnSpc>
            </a:pPr>
            <a:r>
              <a:rPr sz="950" b="0">
                <a:solidFill>
                  <a:srgbClr val="9CA3AF"/>
                </a:solidFill>
                <a:latin typeface="Consolas"/>
              </a:rPr>
              <a:t>+ ichki CRM</a:t>
            </a:r>
          </a:p>
          <a:p>
            <a:pPr algn="ctr">
              <a:lnSpc>
                <a:spcPct val="135000"/>
              </a:lnSpc>
            </a:pPr>
            <a:r>
              <a:rPr sz="950" b="0">
                <a:solidFill>
                  <a:srgbClr val="9CA3AF"/>
                </a:solidFill>
                <a:latin typeface="Consolas"/>
              </a:rPr>
              <a:t>= o'z serveringizda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1207008"/>
            <a:ext cx="5303520" cy="3200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66160" y="1207008"/>
            <a:ext cx="54864" cy="320040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67328" y="13716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Calibri"/>
              </a:rPr>
              <a:t>Telefonda o'zbekcha gapiradigan sun'iy intellekt operatori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67328" y="1810512"/>
            <a:ext cx="4937760" cy="3200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67328" y="2002536"/>
            <a:ext cx="68580" cy="6858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68496" y="1938528"/>
            <a:ext cx="47548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FFFFFF"/>
                </a:solidFill>
                <a:latin typeface="Calibri"/>
              </a:rPr>
              <a:t>Gapiradi va tinglaydi.</a:t>
            </a:r>
            <a:r>
              <a:rPr sz="1050" b="0">
                <a:solidFill>
                  <a:srgbClr val="D1D5DB"/>
                </a:solidFill>
                <a:latin typeface="Calibri"/>
              </a:rPr>
              <a:t> Asterisk telefon tarmog'idan kelgan ovoz to'g'ridan-to'g'ri Gemini Live modeliga uzatiladi — birinchi javob 734–879 ms.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67328" y="2624328"/>
            <a:ext cx="68580" cy="6858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68496" y="2560320"/>
            <a:ext cx="47548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FFFFFF"/>
                </a:solidFill>
                <a:latin typeface="Calibri"/>
              </a:rPr>
              <a:t>Ish qiladi, faqat gapirmaydi.</a:t>
            </a:r>
            <a:r>
              <a:rPr sz="1050" b="0">
                <a:solidFill>
                  <a:srgbClr val="D1D5DB"/>
                </a:solidFill>
                <a:latin typeface="Calibri"/>
              </a:rPr>
              <a:t> 9 ta vosita: tiket ochadi, bilim bazasidan qidiradi, qayta aloqa belgilaydi, kerak bo'lsa jonli operatorga ulaydi.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67328" y="3246120"/>
            <a:ext cx="68580" cy="6858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68496" y="3182112"/>
            <a:ext cx="47548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FFFFFF"/>
                </a:solidFill>
                <a:latin typeface="Calibri"/>
              </a:rPr>
              <a:t>Hammasi yoziladi.</a:t>
            </a:r>
            <a:r>
              <a:rPr sz="1050" b="0">
                <a:solidFill>
                  <a:srgbClr val="D1D5DB"/>
                </a:solidFill>
                <a:latin typeface="Calibri"/>
              </a:rPr>
              <a:t> Har qo'ng'iroq — kontakt, transkript, tahlil va hisobot sifatida CRMda qoladi. Boshqaruv real vaqtda ko'radi.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67328" y="3867912"/>
            <a:ext cx="68580" cy="6858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68496" y="3803904"/>
            <a:ext cx="47548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FFFFFF"/>
                </a:solidFill>
                <a:latin typeface="Calibri"/>
              </a:rPr>
              <a:t>Bitta o'rnatish — 215 ta OTM.</a:t>
            </a:r>
            <a:r>
              <a:rPr sz="1050" b="0">
                <a:solidFill>
                  <a:srgbClr val="D1D5DB"/>
                </a:solidFill>
                <a:latin typeface="Calibri"/>
              </a:rPr>
              <a:t> Ko'p-ijarali arxitektura: har bir muassasa o'z ma'lumot bazasi, o'z ovozi va o'z raqami bilan, ma'lumotlar bir-biridan ajratilgan.</a:t>
            </a:r>
          </a:p>
        </p:txBody>
      </p:sp>
    </p:spTree>
  </p:cSld>
  <p:bg>
    <p:bgPr>
      <a:solidFill>
        <a:srgbClr val="0D1117"/>
      </a:solidFill>
      <a:effectLst/>
    </p:bgPr>
  </p:bg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E5534B"/>
                </a:solidFill>
                <a:latin typeface="Consola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Biz hal qilayotgan 3 muammo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54864" cy="36576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94944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Oliy ta'lim, fan va innovatsiyalar vazirligi ro'yxatidagi 5 muammodan uchtasi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07008"/>
            <a:ext cx="2788920" cy="3200400"/>
          </a:xfrm>
          <a:prstGeom prst="rect">
            <a:avLst/>
          </a:prstGeom>
          <a:solidFill>
            <a:srgbClr val="1A0D0D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07008"/>
            <a:ext cx="278892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72768"/>
            <a:ext cx="2423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Nega bizga</a:t>
            </a:r>
          </a:p>
          <a:p>
            <a:pPr algn="l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ehtiyoj bor?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487168"/>
            <a:ext cx="1097280" cy="41148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670048"/>
            <a:ext cx="24231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5534B"/>
                </a:solidFill>
                <a:latin typeface="Consolas"/>
              </a:rPr>
              <a:t>64%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950" b="0">
                <a:solidFill>
                  <a:srgbClr val="D1D5DB"/>
                </a:solidFill>
                <a:latin typeface="Calibri"/>
              </a:rPr>
              <a:t>2025-yilda vazirlikka kelgan murojaatlarning 64 foiziga amaliy yechim berilmagan. Prezident vazirlikni murojaat bilan ishlashda eng yomon natija ko'rsatgan idora sifatida tanqid qildi.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169663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Consolas"/>
              </a:rPr>
              <a:t>Manba: Prezident nutqi, 13.03.2026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0" y="1207008"/>
            <a:ext cx="544068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9000" y="1207008"/>
            <a:ext cx="50292" cy="100584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84448" y="1362456"/>
            <a:ext cx="310896" cy="310896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4448" y="1389888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5072" y="1353312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Vazirlik call-markazini avtomatlashtirish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05072" y="1664208"/>
            <a:ext cx="4709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9CA3AF"/>
                </a:solidFill>
                <a:latin typeface="Calibri"/>
              </a:rPr>
              <a:t>1006 va (71) 230-64-64 raqamlari 24/7 deb e'lon qilingan, ammo operator soni cheklangan. Baholash agentligining call-markazi 12 xodim va atigi 6 ta telefon liniyasi bilan ochilgan.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2322576"/>
            <a:ext cx="544068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29000" y="2322576"/>
            <a:ext cx="50292" cy="100584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84448" y="2478024"/>
            <a:ext cx="310896" cy="310896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84448" y="2505456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5072" y="2468880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Murojaatlarga avtomatik javob berish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05072" y="2779776"/>
            <a:ext cx="4709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9CA3AF"/>
                </a:solidFill>
                <a:latin typeface="Calibri"/>
              </a:rPr>
              <a:t>2026-yilning 6 oyida vazirlikka 4 572 ta murojaat keldi, shundan 85,4 foizi elektron. Mamlakat bo'yicha barcha murojaatlarning 58 foizi aynan telefon orqali keladi.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29000" y="3438144"/>
            <a:ext cx="544068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29000" y="3438144"/>
            <a:ext cx="50292" cy="100584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84448" y="3593591"/>
            <a:ext cx="310896" cy="310896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84448" y="3621024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05072" y="3584448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Talaba va o'qituvchi samaradorligi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05072" y="3895344"/>
            <a:ext cx="4709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9CA3AF"/>
                </a:solidFill>
                <a:latin typeface="Calibri"/>
              </a:rPr>
              <a:t>1,5 mln talaba va 49 600 professor-o'qituvchi bir xil savollarni takrorlaydi: kontrakt, ko'chish, diplom, stipendiya. Javob berish o'rniga — javobni tizim beradi.</a:t>
            </a:r>
          </a:p>
        </p:txBody>
      </p:sp>
    </p:spTree>
  </p:cSld>
  <p:bg>
    <p:bgPr>
      <a:solidFill>
        <a:srgbClr val="0D1117"/>
      </a:solidFill>
      <a:effectLst/>
    </p:bgPr>
  </p:bg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E5534B"/>
                </a:solidFill>
                <a:latin typeface="Consola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Muammo raqamlarda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54864" cy="36576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94944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Barcha ko'rsatkichlar rasmiy manbalardan — har biri slayd ostida havola bilan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2743200" cy="117043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274320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344168"/>
            <a:ext cx="24140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5534B"/>
                </a:solidFill>
                <a:latin typeface="Consolas"/>
              </a:rPr>
              <a:t>677 907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737360"/>
            <a:ext cx="24140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D1D5DB"/>
                </a:solidFill>
                <a:latin typeface="Calibri"/>
              </a:rPr>
              <a:t>abituriyent 2026-yilda ro'yxatdan o'tdi — 201 700 ta o'ringa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157984"/>
            <a:ext cx="24140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Consolas"/>
              </a:rPr>
              <a:t>Baholash agentligi,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188720"/>
            <a:ext cx="2743200" cy="117043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188720"/>
            <a:ext cx="274320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6432" y="1344168"/>
            <a:ext cx="24140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5534B"/>
                </a:solidFill>
                <a:latin typeface="Consolas"/>
              </a:rPr>
              <a:t>1 535 000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1737360"/>
            <a:ext cx="24140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D1D5DB"/>
                </a:solidFill>
                <a:latin typeface="Calibri"/>
              </a:rPr>
              <a:t>talaba, 215 ta oliy ta'lim tashkilotida — 4 yilda +90%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2157984"/>
            <a:ext cx="24140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Consolas"/>
              </a:rPr>
              <a:t>Statistika qo'mitasi, 2025/26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188720"/>
            <a:ext cx="2743200" cy="117043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188720"/>
            <a:ext cx="274320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1072" y="1344168"/>
            <a:ext cx="24140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5534B"/>
                </a:solidFill>
                <a:latin typeface="Consolas"/>
              </a:rPr>
              <a:t>58%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1737360"/>
            <a:ext cx="24140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D1D5DB"/>
                </a:solidFill>
                <a:latin typeface="Calibri"/>
              </a:rPr>
              <a:t>barcha murojaatlar telefon orqali keladi — 11,87 mln dan 6,9 mln tasi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2157984"/>
            <a:ext cx="24140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Consolas"/>
              </a:rPr>
              <a:t>murojaat.gov.uz, 2026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450591"/>
            <a:ext cx="2743200" cy="117043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2450591"/>
            <a:ext cx="274320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2606039"/>
            <a:ext cx="24140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5534B"/>
                </a:solidFill>
                <a:latin typeface="Consolas"/>
              </a:rPr>
              <a:t>12 / 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2999232"/>
            <a:ext cx="24140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D1D5DB"/>
                </a:solidFill>
                <a:latin typeface="Calibri"/>
              </a:rPr>
              <a:t>xodim va telefon liniyasi bilan Baholash agentligi call-markazi ochilgan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3419856"/>
            <a:ext cx="24140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Consolas"/>
              </a:rPr>
              <a:t>Davlat test markazi, 2018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91840" y="2450591"/>
            <a:ext cx="2743200" cy="117043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91840" y="2450591"/>
            <a:ext cx="274320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56432" y="2606039"/>
            <a:ext cx="24140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5534B"/>
                </a:solidFill>
                <a:latin typeface="Consolas"/>
              </a:rPr>
              <a:t>49 600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6432" y="2999232"/>
            <a:ext cx="24140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D1D5DB"/>
                </a:solidFill>
                <a:latin typeface="Calibri"/>
              </a:rPr>
              <a:t>professor-o'qituvchi — bir xil ma'muriy savollarga javob berishga majbur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6432" y="3419856"/>
            <a:ext cx="24140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Consolas"/>
              </a:rPr>
              <a:t>Statistika qo'mitasi, 2024/25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2450591"/>
            <a:ext cx="2743200" cy="117043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26480" y="2450591"/>
            <a:ext cx="274320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91072" y="2606039"/>
            <a:ext cx="24140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5534B"/>
                </a:solidFill>
                <a:latin typeface="Consolas"/>
              </a:rPr>
              <a:t>94,2%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91072" y="2999232"/>
            <a:ext cx="24140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D1D5DB"/>
                </a:solidFill>
                <a:latin typeface="Calibri"/>
              </a:rPr>
              <a:t>aholining internetdan foydalanish darajasi — raqamli kanal allaqachon universal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1072" y="3419856"/>
            <a:ext cx="24140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Consolas"/>
              </a:rPr>
              <a:t>Statistika qo'mitasi, 2025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749039"/>
            <a:ext cx="8412480" cy="731520"/>
          </a:xfrm>
          <a:prstGeom prst="rect">
            <a:avLst/>
          </a:prstGeom>
          <a:solidFill>
            <a:srgbClr val="1A0D0D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3749039"/>
            <a:ext cx="50292" cy="73152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3877056"/>
            <a:ext cx="8046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E5534B"/>
                </a:solidFill>
                <a:latin typeface="Consolas"/>
              </a:rPr>
              <a:t>Bizning hisob-kitobimiz:  </a:t>
            </a:r>
            <a:r>
              <a:rPr sz="1050" b="0">
                <a:solidFill>
                  <a:srgbClr val="D1D5DB"/>
                </a:solidFill>
                <a:latin typeface="Calibri"/>
              </a:rPr>
              <a:t>qabul mavsumida (60 kun) abituriyentlarning atigi 30 foizi bir marta qo'ng'iroq qilsa — kuniga ~3 400 ta qo'ng'iroq, o'rtacha 3 daqiqadan. Buni jonli operatorlar bilan ushlash uchun ~42 ta operator kerak bo'ladi; hozir 6 ta liniya bor.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59028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Calibri"/>
              </a:rPr>
              <a:t>Izoh: oxirgi qator — mavjud rasmiy raqamlar asosidagi bizning modelimiz, e'lon qilingan statistika emas.</a:t>
            </a:r>
          </a:p>
        </p:txBody>
      </p:sp>
    </p:spTree>
  </p:cSld>
  <p:bg>
    <p:bgPr>
      <a:solidFill>
        <a:srgbClr val="0D1117"/>
      </a:solidFill>
      <a:effectLst/>
    </p:bgPr>
  </p:bg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E5534B"/>
                </a:solidFill>
                <a:latin typeface="Consola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Yechim: qo'ng'iroq qanday kechadi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54864" cy="36576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94944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Fuqaro raqamni teradi — 1 soniyadan keyin o'zbek tilida javob eshitadi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1536192" cy="1188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98448"/>
            <a:ext cx="1536192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463040"/>
            <a:ext cx="13167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Fuqaro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810512"/>
            <a:ext cx="131673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</a:pPr>
            <a:r>
              <a:rPr sz="850" b="0">
                <a:solidFill>
                  <a:srgbClr val="9CA3AF"/>
                </a:solidFill>
                <a:latin typeface="Calibri"/>
              </a:rPr>
              <a:t>telefon qiladi 1006 / 71-230-64-64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93391" y="1755648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E5534B"/>
                </a:solidFill>
                <a:latin typeface="Consolas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76272" y="1298448"/>
            <a:ext cx="1536192" cy="1188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6272" y="1298448"/>
            <a:ext cx="1536192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0" y="1463040"/>
            <a:ext cx="13167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Asterisk 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1810512"/>
            <a:ext cx="131673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</a:pPr>
            <a:r>
              <a:rPr sz="850" b="0">
                <a:solidFill>
                  <a:srgbClr val="9CA3AF"/>
                </a:solidFill>
                <a:latin typeface="Calibri"/>
              </a:rPr>
              <a:t>SIP javob beradi, yozib oladi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2463" y="1755648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E5534B"/>
                </a:solidFill>
                <a:latin typeface="Consolas"/>
              </a:rPr>
              <a:t>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95344" y="1298448"/>
            <a:ext cx="1536192" cy="1188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95344" y="1298448"/>
            <a:ext cx="1536192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05072" y="1463040"/>
            <a:ext cx="13167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Gemini Live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05072" y="1810512"/>
            <a:ext cx="131673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</a:pPr>
            <a:r>
              <a:rPr sz="850" b="0">
                <a:solidFill>
                  <a:srgbClr val="9CA3AF"/>
                </a:solidFill>
                <a:latin typeface="Calibri"/>
              </a:rPr>
              <a:t>uz-UZ, 8 kHz 734–879 ms javob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31536" y="1755648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E5534B"/>
                </a:solidFill>
                <a:latin typeface="Consolas"/>
              </a:rPr>
              <a:t>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14416" y="1298448"/>
            <a:ext cx="1536192" cy="1188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14416" y="1298448"/>
            <a:ext cx="1536192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24144" y="1463040"/>
            <a:ext cx="13167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9 ta vosita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24144" y="1810512"/>
            <a:ext cx="131673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</a:pPr>
            <a:r>
              <a:rPr sz="850" b="0">
                <a:solidFill>
                  <a:srgbClr val="9CA3AF"/>
                </a:solidFill>
                <a:latin typeface="Calibri"/>
              </a:rPr>
              <a:t>tiket, bilim bazasi, qayta aloqa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0607" y="1755648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E5534B"/>
                </a:solidFill>
                <a:latin typeface="Consolas"/>
              </a:rPr>
              <a:t>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33488" y="1298448"/>
            <a:ext cx="1536192" cy="1188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33488" y="1298448"/>
            <a:ext cx="1536192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3215" y="1463040"/>
            <a:ext cx="13167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CRM + operator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3215" y="1810512"/>
            <a:ext cx="131673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</a:pPr>
            <a:r>
              <a:rPr sz="850" b="0">
                <a:solidFill>
                  <a:srgbClr val="9CA3AF"/>
                </a:solidFill>
                <a:latin typeface="Calibri"/>
              </a:rPr>
              <a:t>hammasi yoziladi, kerak bo'lsa uzatadi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743200"/>
            <a:ext cx="2057400" cy="1005840"/>
          </a:xfrm>
          <a:prstGeom prst="rect">
            <a:avLst/>
          </a:prstGeom>
          <a:solidFill>
            <a:srgbClr val="0D1A14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2743200"/>
            <a:ext cx="2057400" cy="5029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2889504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FB950"/>
                </a:solidFill>
                <a:latin typeface="Consolas"/>
              </a:rPr>
              <a:t>734–879 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320040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D1D5DB"/>
                </a:solidFill>
                <a:latin typeface="Calibri"/>
              </a:rPr>
              <a:t>birinchi ovozli javobgacha — sakkizta ovozda o'lchangan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33472" y="2743200"/>
            <a:ext cx="2057400" cy="1005840"/>
          </a:xfrm>
          <a:prstGeom prst="rect">
            <a:avLst/>
          </a:prstGeom>
          <a:solidFill>
            <a:srgbClr val="0D1A14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633472" y="2743200"/>
            <a:ext cx="2057400" cy="5029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70632" y="2889504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FB950"/>
                </a:solidFill>
                <a:latin typeface="Consolas"/>
              </a:rPr>
              <a:t>8 kHz to'g'ridan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70632" y="320040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D1D5DB"/>
                </a:solidFill>
                <a:latin typeface="Calibri"/>
              </a:rPr>
              <a:t>telefon ovozi qayta namunalanmasdan uzatiladi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09744" y="2743200"/>
            <a:ext cx="2057400" cy="1005840"/>
          </a:xfrm>
          <a:prstGeom prst="rect">
            <a:avLst/>
          </a:prstGeom>
          <a:solidFill>
            <a:srgbClr val="0D1A14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809744" y="2743200"/>
            <a:ext cx="2057400" cy="5029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46904" y="2889504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FB950"/>
                </a:solidFill>
                <a:latin typeface="Consolas"/>
              </a:rPr>
              <a:t>Barge-in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46904" y="320040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D1D5DB"/>
                </a:solidFill>
                <a:latin typeface="Calibri"/>
              </a:rPr>
              <a:t>foydalanuvchi gapini bo'lsa, AI darhol to'xtaydi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86016" y="2743200"/>
            <a:ext cx="2057400" cy="1005840"/>
          </a:xfrm>
          <a:prstGeom prst="rect">
            <a:avLst/>
          </a:prstGeom>
          <a:solidFill>
            <a:srgbClr val="0D1A14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986016" y="2743200"/>
            <a:ext cx="2057400" cy="5029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23176" y="2889504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FB950"/>
                </a:solidFill>
                <a:latin typeface="Consolas"/>
              </a:rPr>
              <a:t>Fallback IVR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23176" y="320040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D1D5DB"/>
                </a:solidFill>
                <a:latin typeface="Calibri"/>
              </a:rPr>
              <a:t>AI ishlamasa ham qo'ng'iroq yo'qolmaydi — yozib olinadi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877056"/>
            <a:ext cx="8412480" cy="603504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" y="3877056"/>
            <a:ext cx="50292" cy="603504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4005072"/>
            <a:ext cx="8046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1">
                <a:solidFill>
                  <a:srgbClr val="E5534B"/>
                </a:solidFill>
                <a:latin typeface="Consolas"/>
              </a:rPr>
              <a:t>Muhim tafsilot:  </a:t>
            </a:r>
            <a:r>
              <a:rPr sz="1000" b="0">
                <a:solidFill>
                  <a:srgbClr val="D1D5DB"/>
                </a:solidFill>
                <a:latin typeface="Calibri"/>
              </a:rPr>
              <a:t>ovoz provayderi almashtiriladigan qilib yozilgan — Gemini Live, OpenAI Realtime yoki kelajakda o'z o'zbek modelimiz. Almashtirish uchun bitta sozlama yetarli, tizimning qolgan qismi o'zgarmaydi.</a:t>
            </a:r>
          </a:p>
        </p:txBody>
      </p:sp>
    </p:spTree>
  </p:cSld>
  <p:bg>
    <p:bgPr>
      <a:solidFill>
        <a:srgbClr val="0D1117"/>
      </a:solidFill>
      <a:effectLst/>
    </p:bgPr>
  </p:bg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E5534B"/>
                </a:solidFill>
                <a:latin typeface="Consola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Nima tayyor? — Bu g'oya emas, ishlaydigan tizim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54864" cy="36576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94944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Xakatongacha qurilgan: 584 fayl, ~121 000 qator kod, 52 ta avtomatik test to'plami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07008"/>
            <a:ext cx="2743200" cy="2331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07008"/>
            <a:ext cx="274320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371600"/>
            <a:ext cx="24140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Telefoniya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1700784"/>
            <a:ext cx="502920" cy="32004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28800"/>
            <a:ext cx="24140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3FB950"/>
                </a:solidFill>
                <a:latin typeface="Calibri"/>
              </a:rPr>
              <a:t>✓ </a:t>
            </a:r>
            <a:r>
              <a:rPr sz="950" b="0">
                <a:solidFill>
                  <a:srgbClr val="D1D5DB"/>
                </a:solidFill>
                <a:latin typeface="Calibri"/>
              </a:rPr>
              <a:t>Asterisk 20 + ARI/AMI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144268"/>
            <a:ext cx="24140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3FB950"/>
                </a:solidFill>
                <a:latin typeface="Calibri"/>
              </a:rPr>
              <a:t>✓ </a:t>
            </a:r>
            <a:r>
              <a:rPr sz="950" b="0">
                <a:solidFill>
                  <a:srgbClr val="D1D5DB"/>
                </a:solidFill>
                <a:latin typeface="Calibri"/>
              </a:rPr>
              <a:t>AudioSocket jonli ovoz oqimi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459735"/>
            <a:ext cx="24140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3FB950"/>
                </a:solidFill>
                <a:latin typeface="Calibri"/>
              </a:rPr>
              <a:t>✓ </a:t>
            </a:r>
            <a:r>
              <a:rPr sz="950" b="0">
                <a:solidFill>
                  <a:srgbClr val="D1D5DB"/>
                </a:solidFill>
                <a:latin typeface="Calibri"/>
              </a:rPr>
              <a:t>Qo'ng'iroqni yozib olish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775203"/>
            <a:ext cx="24140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3FB950"/>
                </a:solidFill>
                <a:latin typeface="Calibri"/>
              </a:rPr>
              <a:t>✓ </a:t>
            </a:r>
            <a:r>
              <a:rPr sz="950" b="0">
                <a:solidFill>
                  <a:srgbClr val="D1D5DB"/>
                </a:solidFill>
                <a:latin typeface="Calibri"/>
              </a:rPr>
              <a:t>Operatorga uzatish (transfer)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3090671"/>
            <a:ext cx="24140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3FB950"/>
                </a:solidFill>
                <a:latin typeface="Calibri"/>
              </a:rPr>
              <a:t>✓ </a:t>
            </a:r>
            <a:r>
              <a:rPr sz="950" b="0">
                <a:solidFill>
                  <a:srgbClr val="D1D5DB"/>
                </a:solidFill>
                <a:latin typeface="Calibri"/>
              </a:rPr>
              <a:t>Kiruvchi va chiquvchi qo'ng'iroq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1207008"/>
            <a:ext cx="2743200" cy="2331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1840" y="1207008"/>
            <a:ext cx="274320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56432" y="1371600"/>
            <a:ext cx="24140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AI qatlami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56432" y="1700784"/>
            <a:ext cx="502920" cy="32004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1828800"/>
            <a:ext cx="24140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3FB950"/>
                </a:solidFill>
                <a:latin typeface="Calibri"/>
              </a:rPr>
              <a:t>✓ </a:t>
            </a:r>
            <a:r>
              <a:rPr sz="950" b="0">
                <a:solidFill>
                  <a:srgbClr val="D1D5DB"/>
                </a:solidFill>
                <a:latin typeface="Calibri"/>
              </a:rPr>
              <a:t>Gemini Live (uz-UZ) — asosiy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6432" y="2144268"/>
            <a:ext cx="24140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3FB950"/>
                </a:solidFill>
                <a:latin typeface="Calibri"/>
              </a:rPr>
              <a:t>✓ </a:t>
            </a:r>
            <a:r>
              <a:rPr sz="950" b="0">
                <a:solidFill>
                  <a:srgbClr val="D1D5DB"/>
                </a:solidFill>
                <a:latin typeface="Calibri"/>
              </a:rPr>
              <a:t>OpenAI Realtime — muqobil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2459735"/>
            <a:ext cx="24140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3FB950"/>
                </a:solidFill>
                <a:latin typeface="Calibri"/>
              </a:rPr>
              <a:t>✓ </a:t>
            </a:r>
            <a:r>
              <a:rPr sz="950" b="0">
                <a:solidFill>
                  <a:srgbClr val="D1D5DB"/>
                </a:solidFill>
                <a:latin typeface="Calibri"/>
              </a:rPr>
              <a:t>ElevenLabs v3 — tayyor iboralar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2775203"/>
            <a:ext cx="24140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3FB950"/>
                </a:solidFill>
                <a:latin typeface="Calibri"/>
              </a:rPr>
              <a:t>✓ </a:t>
            </a:r>
            <a:r>
              <a:rPr sz="950" b="0">
                <a:solidFill>
                  <a:srgbClr val="D1D5DB"/>
                </a:solidFill>
                <a:latin typeface="Calibri"/>
              </a:rPr>
              <a:t>Bilim bazasidan qidiruv (RAG)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56432" y="3090671"/>
            <a:ext cx="24140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3FB950"/>
                </a:solidFill>
                <a:latin typeface="Calibri"/>
              </a:rPr>
              <a:t>✓ </a:t>
            </a:r>
            <a:r>
              <a:rPr sz="950" b="0">
                <a:solidFill>
                  <a:srgbClr val="D1D5DB"/>
                </a:solidFill>
                <a:latin typeface="Calibri"/>
              </a:rPr>
              <a:t>AI xarajatini hisoblash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1207008"/>
            <a:ext cx="2743200" cy="2331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1207008"/>
            <a:ext cx="274320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91072" y="1371600"/>
            <a:ext cx="24140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CRM va boshqaruv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91072" y="1700784"/>
            <a:ext cx="502920" cy="32004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91072" y="1828800"/>
            <a:ext cx="24140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3FB950"/>
                </a:solidFill>
                <a:latin typeface="Calibri"/>
              </a:rPr>
              <a:t>✓ </a:t>
            </a:r>
            <a:r>
              <a:rPr sz="950" b="0">
                <a:solidFill>
                  <a:srgbClr val="D1D5DB"/>
                </a:solidFill>
                <a:latin typeface="Calibri"/>
              </a:rPr>
              <a:t>Kontakt, tiket, qayta aloqa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91072" y="2144268"/>
            <a:ext cx="24140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3FB950"/>
                </a:solidFill>
                <a:latin typeface="Calibri"/>
              </a:rPr>
              <a:t>✓ </a:t>
            </a:r>
            <a:r>
              <a:rPr sz="950" b="0">
                <a:solidFill>
                  <a:srgbClr val="D1D5DB"/>
                </a:solidFill>
                <a:latin typeface="Calibri"/>
              </a:rPr>
              <a:t>Transkript va qo'ng'iroq tahlili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91072" y="2459735"/>
            <a:ext cx="24140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3FB950"/>
                </a:solidFill>
                <a:latin typeface="Calibri"/>
              </a:rPr>
              <a:t>✓ </a:t>
            </a:r>
            <a:r>
              <a:rPr sz="950" b="0">
                <a:solidFill>
                  <a:srgbClr val="D1D5DB"/>
                </a:solidFill>
                <a:latin typeface="Calibri"/>
              </a:rPr>
              <a:t>Kampaniya va avtoqo'ng'iroq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1072" y="2775203"/>
            <a:ext cx="24140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3FB950"/>
                </a:solidFill>
                <a:latin typeface="Calibri"/>
              </a:rPr>
              <a:t>✓ </a:t>
            </a:r>
            <a:r>
              <a:rPr sz="950" b="0">
                <a:solidFill>
                  <a:srgbClr val="D1D5DB"/>
                </a:solidFill>
                <a:latin typeface="Calibri"/>
              </a:rPr>
              <a:t>Dashboard, hisobot, eksport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91072" y="3090671"/>
            <a:ext cx="24140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3FB950"/>
                </a:solidFill>
                <a:latin typeface="Calibri"/>
              </a:rPr>
              <a:t>✓ </a:t>
            </a:r>
            <a:r>
              <a:rPr sz="950" b="0">
                <a:solidFill>
                  <a:srgbClr val="D1D5DB"/>
                </a:solidFill>
                <a:latin typeface="Calibri"/>
              </a:rPr>
              <a:t>Audit jurnali, rollar, JWT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675887"/>
            <a:ext cx="1325880" cy="804672"/>
          </a:xfrm>
          <a:prstGeom prst="rect">
            <a:avLst/>
          </a:prstGeom>
          <a:solidFill>
            <a:srgbClr val="1A1025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3675887"/>
            <a:ext cx="132588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3822191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E5534B"/>
                </a:solidFill>
                <a:latin typeface="Consolas"/>
              </a:rPr>
              <a:t>584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133087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TypeScript fayli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74519" y="3675887"/>
            <a:ext cx="1325880" cy="804672"/>
          </a:xfrm>
          <a:prstGeom prst="rect">
            <a:avLst/>
          </a:prstGeom>
          <a:solidFill>
            <a:srgbClr val="1A1025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874519" y="3675887"/>
            <a:ext cx="132588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74519" y="3822191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E5534B"/>
                </a:solidFill>
                <a:latin typeface="Consolas"/>
              </a:rPr>
              <a:t>121 000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74519" y="4133087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qator kod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91839" y="3675887"/>
            <a:ext cx="1325880" cy="804672"/>
          </a:xfrm>
          <a:prstGeom prst="rect">
            <a:avLst/>
          </a:prstGeom>
          <a:solidFill>
            <a:srgbClr val="1A1025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91839" y="3675887"/>
            <a:ext cx="132588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91839" y="3822191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E5534B"/>
                </a:solidFill>
                <a:latin typeface="Consolas"/>
              </a:rPr>
              <a:t>52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91839" y="4133087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test to'plami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09159" y="3675887"/>
            <a:ext cx="1325880" cy="804672"/>
          </a:xfrm>
          <a:prstGeom prst="rect">
            <a:avLst/>
          </a:prstGeom>
          <a:solidFill>
            <a:srgbClr val="1A1025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709159" y="3675887"/>
            <a:ext cx="132588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09159" y="3822191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E5534B"/>
                </a:solidFill>
                <a:latin typeface="Consolas"/>
              </a:rPr>
              <a:t>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09159" y="4133087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modul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26479" y="3675887"/>
            <a:ext cx="1325880" cy="804672"/>
          </a:xfrm>
          <a:prstGeom prst="rect">
            <a:avLst/>
          </a:prstGeom>
          <a:solidFill>
            <a:srgbClr val="1A1025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26479" y="3675887"/>
            <a:ext cx="132588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26479" y="3822191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E5534B"/>
                </a:solidFill>
                <a:latin typeface="Consolas"/>
              </a:rPr>
              <a:t>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26479" y="4133087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AI vositasi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43800" y="3675887"/>
            <a:ext cx="1325880" cy="804672"/>
          </a:xfrm>
          <a:prstGeom prst="rect">
            <a:avLst/>
          </a:prstGeom>
          <a:solidFill>
            <a:srgbClr val="1A1025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543800" y="3675887"/>
            <a:ext cx="132588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43800" y="3822191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E5534B"/>
                </a:solidFill>
                <a:latin typeface="Consolas"/>
              </a:rPr>
              <a:t>100%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43800" y="4133087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o'z serveringizda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459028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Calibri"/>
              </a:rPr>
              <a:t>Ma'lumotlar bazasi — PostgreSQL 17 va Redis 7; frontend — React 19. Docker bilan bir buyruqda ko'tariladi.</a:t>
            </a:r>
          </a:p>
        </p:txBody>
      </p:sp>
    </p:spTree>
  </p:cSld>
  <p:bg>
    <p:bgPr>
      <a:solidFill>
        <a:srgbClr val="0D1117"/>
      </a:solidFill>
      <a:effectLst/>
    </p:bgPr>
  </p:bg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E5534B"/>
                </a:solidFill>
                <a:latin typeface="Consola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Bozor hajmi va maqsadli auditoriya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54864" cy="36576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94944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TAM / SAM / SOM — global bozordan O'zbekiston ta'lim segmentigacha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07008"/>
            <a:ext cx="2788920" cy="3200400"/>
          </a:xfrm>
          <a:prstGeom prst="rect">
            <a:avLst/>
          </a:prstGeom>
          <a:solidFill>
            <a:srgbClr val="1A1025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07008"/>
            <a:ext cx="278892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45920"/>
            <a:ext cx="2331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Bozor</a:t>
            </a:r>
          </a:p>
          <a:p>
            <a:pPr algn="l">
              <a:lnSpc>
                <a:spcPct val="110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hajmi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615184"/>
            <a:ext cx="1097280" cy="41148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98064"/>
            <a:ext cx="2331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Maqsadli auditoriya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900" b="0">
                <a:solidFill>
                  <a:srgbClr val="9CA3AF"/>
                </a:solidFill>
                <a:latin typeface="Calibri"/>
              </a:rPr>
              <a:t>Oliy ta'lim vazirligi, Bilim va malakalarni baholash agentligi, 215 ta OTM, 14 ta hududiy boshqarma — va ular bilan gaplashadigan 1,5 mln talaba hamda 678 ming abituriyent.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1243584"/>
            <a:ext cx="544068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1243584"/>
            <a:ext cx="544068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9000" y="1243584"/>
            <a:ext cx="507492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1389888"/>
            <a:ext cx="731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5534B"/>
                </a:solidFill>
                <a:latin typeface="Consolas"/>
              </a:rPr>
              <a:t>TAM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399032"/>
            <a:ext cx="4297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$2,9 mlrd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1737360"/>
            <a:ext cx="5074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CA3AF"/>
                </a:solidFill>
                <a:latin typeface="Calibri"/>
              </a:rPr>
              <a:t>Global AI call-markaz bozori (2026) — 2030-yilga $7,08 mlrd, yillik o'sish 23,8%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048256"/>
            <a:ext cx="5074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Consolas"/>
              </a:rPr>
              <a:t>Grand View Research,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2340864"/>
            <a:ext cx="544068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29000" y="2340864"/>
            <a:ext cx="544068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29000" y="2340864"/>
            <a:ext cx="393192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11880" y="2487168"/>
            <a:ext cx="731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5534B"/>
                </a:solidFill>
                <a:latin typeface="Consolas"/>
              </a:rPr>
              <a:t>SAM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496312"/>
            <a:ext cx="4297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$200 mln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2834640"/>
            <a:ext cx="5074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CA3AF"/>
                </a:solidFill>
                <a:latin typeface="Calibri"/>
              </a:rPr>
              <a:t>O'zbekiston AI dasturiy ta'minot va xizmatlari bozorining 2026-yil maqsadi; 2030-yilga $1,5 mlrd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3145536"/>
            <a:ext cx="5074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Consolas"/>
              </a:rPr>
              <a:t>PQ-358, 14.10.2024 (lex.uz)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29000" y="3438144"/>
            <a:ext cx="544068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29000" y="3438144"/>
            <a:ext cx="544068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438144"/>
            <a:ext cx="274320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11880" y="3584448"/>
            <a:ext cx="731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5534B"/>
                </a:solidFill>
                <a:latin typeface="Consolas"/>
              </a:rPr>
              <a:t>SOM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3593591"/>
            <a:ext cx="4297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$1,2 mln/yil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11880" y="3931920"/>
            <a:ext cx="5074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CA3AF"/>
                </a:solidFill>
                <a:latin typeface="Calibri"/>
              </a:rPr>
              <a:t>Ta'lim segmenti: 215 OTM × $400/oy + vazirlik va agentlik litsenziyalari. 3 yilda 30% qamrov ≈ $360 ming ARR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80" y="4242816"/>
            <a:ext cx="5074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Consolas"/>
              </a:rPr>
              <a:t>Bizning hisob-kitob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59028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Calibri"/>
              </a:rPr>
              <a:t>SOM — bizning modelimiz; TAM va SAM — e'lon qilingan tashqi manbalar. Keyingi bosqich: klinika, bank va savdo sektori.</a:t>
            </a:r>
          </a:p>
        </p:txBody>
      </p:sp>
    </p:spTree>
  </p:cSld>
  <p:bg>
    <p:bgPr>
      <a:solidFill>
        <a:srgbClr val="0D1117"/>
      </a:solidFill>
      <a:effectLst/>
    </p:bgPr>
  </p:bg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E5534B"/>
                </a:solidFill>
                <a:latin typeface="Consola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Yechim + Raqobatchilar tahlili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54864" cy="36576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94944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Asosiy raqobat Silikon vodiysida emas — Toshkent va Ostonada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2615184" cy="42062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26151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Xususiyat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1188720"/>
            <a:ext cx="1746504" cy="420624"/>
          </a:xfrm>
          <a:prstGeom prst="rect">
            <a:avLst/>
          </a:prstGeom>
          <a:solidFill>
            <a:srgbClr val="E5534B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280160"/>
            <a:ext cx="1746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EduVoice 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92040" y="1188720"/>
            <a:ext cx="1837943" cy="42062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1280160"/>
            <a:ext cx="18379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Aisha AI / CyberNet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59" y="1188720"/>
            <a:ext cx="2066543" cy="42062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59" y="1280160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Vapi / Retell / Bland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645920"/>
            <a:ext cx="2615184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1746504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D1D5DB"/>
                </a:solidFill>
                <a:latin typeface="Calibri"/>
              </a:rPr>
              <a:t>O'zbek tilida ovozli agent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8960" y="1645920"/>
            <a:ext cx="1746504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08960" y="1737360"/>
            <a:ext cx="1746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3FB950"/>
                </a:solidFill>
                <a:latin typeface="Calibri"/>
              </a:rPr>
              <a:t>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92040" y="1645920"/>
            <a:ext cx="1837943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40" y="1737360"/>
            <a:ext cx="18379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3FB950"/>
                </a:solidFill>
                <a:latin typeface="Calibri"/>
              </a:rPr>
              <a:t>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59" y="1645920"/>
            <a:ext cx="2066543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59" y="1737360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Calibri"/>
              </a:rPr>
              <a:t>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139696"/>
            <a:ext cx="2615184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" y="2240279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D1D5DB"/>
                </a:solidFill>
                <a:latin typeface="Calibri"/>
              </a:rPr>
              <a:t>Ichki CRM, tiket, transkript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08960" y="2139696"/>
            <a:ext cx="1746504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08960" y="2231136"/>
            <a:ext cx="1746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3FB950"/>
                </a:solidFill>
                <a:latin typeface="Calibri"/>
              </a:rPr>
              <a:t>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92040" y="2139696"/>
            <a:ext cx="1837943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92040" y="2231136"/>
            <a:ext cx="18379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Calibri"/>
              </a:rPr>
              <a:t>➖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59" y="2139696"/>
            <a:ext cx="2066543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59" y="2231136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Calibri"/>
              </a:rPr>
              <a:t>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633472"/>
            <a:ext cx="2615184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5216" y="2734056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D1D5DB"/>
                </a:solidFill>
                <a:latin typeface="Calibri"/>
              </a:rPr>
              <a:t>Ko'p-ijarali: 1 o'rnatish = 215 OTM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08960" y="2633472"/>
            <a:ext cx="1746504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08960" y="2724912"/>
            <a:ext cx="1746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3FB950"/>
                </a:solidFill>
                <a:latin typeface="Calibri"/>
              </a:rPr>
              <a:t>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92040" y="2633472"/>
            <a:ext cx="1837943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92040" y="2724912"/>
            <a:ext cx="18379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Calibri"/>
              </a:rPr>
              <a:t>➖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66559" y="2633472"/>
            <a:ext cx="2066543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66559" y="2724912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Calibri"/>
              </a:rPr>
              <a:t>➖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127248"/>
            <a:ext cx="2615184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5216" y="3227832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D1D5DB"/>
                </a:solidFill>
                <a:latin typeface="Calibri"/>
              </a:rPr>
              <a:t>O'z serveringizda, ma'lumot O'zbekistonda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08960" y="3127248"/>
            <a:ext cx="1746504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08960" y="3218688"/>
            <a:ext cx="1746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3FB950"/>
                </a:solidFill>
                <a:latin typeface="Calibri"/>
              </a:rPr>
              <a:t>✅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92040" y="3127248"/>
            <a:ext cx="1837943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92040" y="3218688"/>
            <a:ext cx="18379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3FB950"/>
                </a:solidFill>
                <a:latin typeface="Calibri"/>
              </a:rPr>
              <a:t>✅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66559" y="3127248"/>
            <a:ext cx="2066543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66559" y="3218688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Calibri"/>
              </a:rPr>
              <a:t>➖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621024"/>
            <a:ext cx="2615184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5216" y="3721608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D1D5DB"/>
                </a:solidFill>
                <a:latin typeface="Calibri"/>
              </a:rPr>
              <a:t>Ovoz provayderini almashtirish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08960" y="3621024"/>
            <a:ext cx="1746504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08960" y="3712463"/>
            <a:ext cx="1746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3FB950"/>
                </a:solidFill>
                <a:latin typeface="Calibri"/>
              </a:rPr>
              <a:t>✅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892040" y="3621024"/>
            <a:ext cx="1837943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92040" y="3712463"/>
            <a:ext cx="18379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Calibri"/>
              </a:rPr>
              <a:t>➖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66559" y="3621024"/>
            <a:ext cx="2066543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66559" y="3712463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Calibri"/>
              </a:rPr>
              <a:t>➖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4133087"/>
            <a:ext cx="8412480" cy="676656"/>
          </a:xfrm>
          <a:prstGeom prst="rect">
            <a:avLst/>
          </a:prstGeom>
          <a:solidFill>
            <a:srgbClr val="1A0D0D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57200" y="4133087"/>
            <a:ext cx="50292" cy="676656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8368" y="4224528"/>
            <a:ext cx="811987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1">
                <a:solidFill>
                  <a:srgbClr val="E5534B"/>
                </a:solidFill>
                <a:latin typeface="Calibri"/>
              </a:rPr>
              <a:t>Nima uchun biz eng yaxshimiz?  </a:t>
            </a:r>
            <a:r>
              <a:rPr sz="1000" b="0">
                <a:solidFill>
                  <a:srgbClr val="D1D5DB"/>
                </a:solidFill>
                <a:latin typeface="Calibri"/>
              </a:rPr>
              <a:t>Global platformalarning birortasi o'zbek tilini rasman qo'llab-quvvatlamaydi va birortasida ichki CRM yo'q — Twilio orqali O'zbekistonga qo'ng'iroq $0,198/daqiqa. Mahalliy raqobatchilarda esa CRM, tiket va ko'p-ijaralilik yo'q. To'rttala shartni bir vaqtda bajaradigan yechim topilmadi.</a:t>
            </a:r>
          </a:p>
        </p:txBody>
      </p:sp>
    </p:spTree>
  </p:cSld>
  <p:bg>
    <p:bgPr>
      <a:solidFill>
        <a:srgbClr val="0D1117"/>
      </a:solidFill>
      <a:effectLst/>
    </p:bgPr>
  </p:bg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E5534B"/>
                </a:solidFill>
                <a:latin typeface="Consola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Monetizatsiya modeli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54864" cy="36576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94944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Kim to'laydi, qancha to'laydi va nima uchun to'lashga arziydi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07008"/>
            <a:ext cx="2788920" cy="3200400"/>
          </a:xfrm>
          <a:prstGeom prst="rect">
            <a:avLst/>
          </a:prstGeom>
          <a:solidFill>
            <a:srgbClr val="1A1025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07008"/>
            <a:ext cx="278892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54480"/>
            <a:ext cx="2331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FFFFFF"/>
                </a:solidFill>
                <a:latin typeface="Calibri"/>
              </a:rPr>
              <a:t>Monetizatsiya</a:t>
            </a:r>
          </a:p>
          <a:p>
            <a:pPr algn="l">
              <a:lnSpc>
                <a:spcPct val="110000"/>
              </a:lnSpc>
            </a:pPr>
            <a:r>
              <a:rPr sz="1900" b="1">
                <a:solidFill>
                  <a:srgbClr val="FFFFFF"/>
                </a:solidFill>
                <a:latin typeface="Calibri"/>
              </a:rPr>
              <a:t>modeli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505456"/>
            <a:ext cx="1097280" cy="41148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88336"/>
            <a:ext cx="23317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Unit economics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900" b="0">
                <a:solidFill>
                  <a:srgbClr val="9CA3AF"/>
                </a:solidFill>
                <a:latin typeface="Calibri"/>
              </a:rPr>
              <a:t>1 AI daqiqasi tannarxi ≈ 400 so'm (model + SIP). Sotuv narxi 1 200 so'm — yalpi marja ~67%. Bir OTM oyiga o'rtacha 3 000 daqiqa ishlatsa: 3,6 mln so'm daromad, 1,2 mln so'm tannarx.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20624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Consolas"/>
              </a:rPr>
              <a:t>Tannarx: Gemini Live $0,023/daq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0" y="1207008"/>
            <a:ext cx="544068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9000" y="1207008"/>
            <a:ext cx="50292" cy="100584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9312" y="1344168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Kim to'laydi?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1664208"/>
            <a:ext cx="50749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9CA3AF"/>
                </a:solidFill>
                <a:latin typeface="Calibri"/>
              </a:rPr>
              <a:t>Oliy ta'lim vazirligi va Baholash agentligi (B2G litsenziya) · 215 ta OTM (B2B obuna) · keyingi bosqichda klinika, bank va savdo tarmoqlari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29000" y="2304288"/>
            <a:ext cx="544068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29000" y="2304288"/>
            <a:ext cx="50292" cy="100584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39312" y="2441448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Qancha to'laydi?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9312" y="2761488"/>
            <a:ext cx="50749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9CA3AF"/>
                </a:solidFill>
                <a:latin typeface="Calibri"/>
              </a:rPr>
              <a:t>Vazirlik darajasidagi on-premise litsenziya — 60 mln so'm/yil. Bir OTM obunasi — 5 mln so'm/oy. Ustiga AI daqiqasi — 1 200 so'm.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3401568"/>
            <a:ext cx="544068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29000" y="3401568"/>
            <a:ext cx="50292" cy="100584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39312" y="3538727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Nima uchun?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3858768"/>
            <a:ext cx="50749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9CA3AF"/>
                </a:solidFill>
                <a:latin typeface="Calibri"/>
              </a:rPr>
              <a:t>Bir operator — bir qo'ng'iroq va 8 soat. EduVoice — 100 ta parallel qo'ng'iroq, 24/7, navbatsiz. Qabul mavsumidagi cho'qqi uchun 42 ta operator yollash shart emas.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59028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Calibri"/>
              </a:rPr>
              <a:t>Davlat sektori uchun narx e'lon qilingan davlat xaridlari tartibiga moslashtiriladi; OTMlar uchun birinchi yil chegirmali pilot taklif qilinadi.</a:t>
            </a:r>
          </a:p>
        </p:txBody>
      </p:sp>
    </p:spTree>
  </p:cSld>
  <p:bg>
    <p:bgPr>
      <a:solidFill>
        <a:srgbClr val="0D1117"/>
      </a:solidFill>
      <a:effectLst/>
    </p:bgPr>
  </p:bg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E5534B"/>
                </a:solidFill>
                <a:latin typeface="Consola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Kutilayotgan ta'sir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54864" cy="36576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94944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Nima uchun bu ish beradi — mustaqil tadqiqotlar va bizning maqsadli ko'rsatkichlarimiz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07008"/>
            <a:ext cx="2057400" cy="1463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07008"/>
            <a:ext cx="205740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53312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5534B"/>
                </a:solidFill>
                <a:latin typeface="Consolas"/>
              </a:rPr>
              <a:t>80%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737360"/>
            <a:ext cx="178308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D1D5DB"/>
                </a:solidFill>
                <a:latin typeface="Calibri"/>
              </a:rPr>
              <a:t>2029-yilga borib agentik AI mijoz murojaatlarining 80 foizini odam aralashuvisiz hal qiladi; operatsion xarajatlar 30% kamayadi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2468880"/>
            <a:ext cx="1783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Consolas"/>
              </a:rPr>
              <a:t>Gartner, 05.03.2025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33472" y="1207008"/>
            <a:ext cx="2057400" cy="1463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33472" y="1207008"/>
            <a:ext cx="205740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79776" y="1353312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5534B"/>
                </a:solidFill>
                <a:latin typeface="Consolas"/>
              </a:rPr>
              <a:t>95%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79776" y="1737360"/>
            <a:ext cx="178308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D1D5DB"/>
                </a:solidFill>
                <a:latin typeface="Calibri"/>
              </a:rPr>
              <a:t>call-markaz xarajatlarining 95 foizigacha qismi — mehnat haqi. Avtomatlashtirishning iqtisodiy asosi shu yerda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79776" y="2468880"/>
            <a:ext cx="1783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Consolas"/>
              </a:rPr>
              <a:t>Gartner, 2022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09744" y="1207008"/>
            <a:ext cx="2057400" cy="1463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09744" y="1207008"/>
            <a:ext cx="205740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56048" y="1353312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5534B"/>
                </a:solidFill>
                <a:latin typeface="Consolas"/>
              </a:rPr>
              <a:t>40–50%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6048" y="1737360"/>
            <a:ext cx="178308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D1D5DB"/>
                </a:solidFill>
                <a:latin typeface="Calibri"/>
              </a:rPr>
              <a:t>kamroq operator bilan 20–30% ko'proq qo'ng'iroqni ushlash — AI joriy etgan kontakt-markazlarda o'lchangan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6048" y="2468880"/>
            <a:ext cx="1783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Consolas"/>
              </a:rPr>
              <a:t>McKinsey, 2025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86016" y="1207008"/>
            <a:ext cx="2057400" cy="1463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86016" y="1207008"/>
            <a:ext cx="205740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1353312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5534B"/>
                </a:solidFill>
                <a:latin typeface="Consolas"/>
              </a:rPr>
              <a:t>43%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1737360"/>
            <a:ext cx="178308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D1D5DB"/>
                </a:solidFill>
                <a:latin typeface="Calibri"/>
              </a:rPr>
              <a:t>tashkilotlarning 43 foizi AI 3 yil ichida xarajatni 30%+ qisqartirishiga ishonadi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2468880"/>
            <a:ext cx="1783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Consolas"/>
              </a:rPr>
              <a:t>Deloitte, 02.2026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2798064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Bizning maqsadli ko'rsatkichlarimiz — pilot yakunida o'lchanadi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163824"/>
            <a:ext cx="2057400" cy="896112"/>
          </a:xfrm>
          <a:prstGeom prst="rect">
            <a:avLst/>
          </a:prstGeom>
          <a:solidFill>
            <a:srgbClr val="0D1A14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3163824"/>
            <a:ext cx="2057400" cy="5029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" y="329184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FB950"/>
                </a:solidFill>
                <a:latin typeface="Consolas"/>
              </a:rPr>
              <a:t>0 soniya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" y="3602736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D1D5DB"/>
                </a:solidFill>
                <a:latin typeface="Calibri"/>
              </a:rPr>
              <a:t>javob kutish vaqti — navbat tugaydi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33472" y="3163824"/>
            <a:ext cx="2057400" cy="896112"/>
          </a:xfrm>
          <a:prstGeom prst="rect">
            <a:avLst/>
          </a:prstGeom>
          <a:solidFill>
            <a:srgbClr val="0D1A14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633472" y="3163824"/>
            <a:ext cx="2057400" cy="5029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79776" y="329184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FB950"/>
                </a:solidFill>
                <a:latin typeface="Consolas"/>
              </a:rPr>
              <a:t>100%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79776" y="3602736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D1D5DB"/>
                </a:solidFill>
                <a:latin typeface="Calibri"/>
              </a:rPr>
              <a:t>qo'ng'iroq yozib olinadi va tahlil qilinadi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09744" y="3163824"/>
            <a:ext cx="2057400" cy="896112"/>
          </a:xfrm>
          <a:prstGeom prst="rect">
            <a:avLst/>
          </a:prstGeom>
          <a:solidFill>
            <a:srgbClr val="0D1A14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809744" y="3163824"/>
            <a:ext cx="2057400" cy="5029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56048" y="329184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FB950"/>
                </a:solidFill>
                <a:latin typeface="Consolas"/>
              </a:rPr>
              <a:t>60%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56048" y="3602736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D1D5DB"/>
                </a:solidFill>
                <a:latin typeface="Calibri"/>
              </a:rPr>
              <a:t>murojaatlar operatorga yetib bormay hal bo'ladi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86016" y="3163824"/>
            <a:ext cx="2057400" cy="896112"/>
          </a:xfrm>
          <a:prstGeom prst="rect">
            <a:avLst/>
          </a:prstGeom>
          <a:solidFill>
            <a:srgbClr val="0D1A14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986016" y="3163824"/>
            <a:ext cx="2057400" cy="5029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32320" y="329184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FB950"/>
                </a:solidFill>
                <a:latin typeface="Consolas"/>
              </a:rPr>
              <a:t>24/7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0" y="3602736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D1D5DB"/>
                </a:solidFill>
                <a:latin typeface="Calibri"/>
              </a:rPr>
              <a:t>dam olish va bayram kunlari ham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187952"/>
            <a:ext cx="8412480" cy="621792"/>
          </a:xfrm>
          <a:prstGeom prst="rect">
            <a:avLst/>
          </a:prstGeom>
          <a:solidFill>
            <a:srgbClr val="1A0D0D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" y="4187952"/>
            <a:ext cx="50292" cy="6217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4297680"/>
            <a:ext cx="80924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1">
                <a:solidFill>
                  <a:srgbClr val="E5534B"/>
                </a:solidFill>
                <a:latin typeface="Calibri"/>
              </a:rPr>
              <a:t>Davlat buyurtmasi allaqachon bor:  </a:t>
            </a:r>
            <a:r>
              <a:rPr sz="1000" b="0">
                <a:solidFill>
                  <a:srgbClr val="D1D5DB"/>
                </a:solidFill>
                <a:latin typeface="Calibri"/>
              </a:rPr>
              <a:t>Vazirlar Mahkamasining 2025-yil 10-iyuldagi qarori bilan tasdiqlangan 60 dan ortiq ustuvor AI loyihalari ro'yxatida "ovozli robotlar yordamida avtomatlashtirilgan kontakt-markaz" to'g'ridan-to'g'ri ko'rsatilgan.</a:t>
            </a:r>
          </a:p>
        </p:txBody>
      </p:sp>
    </p:spTree>
  </p:cSld>
  <p:bg>
    <p:bgPr>
      <a:solidFill>
        <a:srgbClr val="0D1117"/>
      </a:solidFill>
      <a:effectLst/>
    </p:bgPr>
  </p:bg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E5534B"/>
                </a:solidFill>
                <a:latin typeface="Consolas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Milestones — maqsadlar va KPI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54864" cy="36576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94944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Xakatondan keyin 3 yil: pilotdan mintaqaviy bozorgacha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70048"/>
            <a:ext cx="7772400" cy="36576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94192" y="2542032"/>
            <a:ext cx="274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5534B"/>
                </a:solidFill>
                <a:latin typeface="Consolas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532888"/>
            <a:ext cx="274320" cy="27432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87552" y="2002536"/>
            <a:ext cx="36576" cy="53035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199" y="1115568"/>
            <a:ext cx="1828800" cy="88696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199" y="1115568"/>
            <a:ext cx="182880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59" y="1207008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5534B"/>
                </a:solidFill>
                <a:latin typeface="Consolas"/>
              </a:rPr>
              <a:t>Hozir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59" y="1463040"/>
            <a:ext cx="1600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>
                <a:solidFill>
                  <a:srgbClr val="D1D5DB"/>
                </a:solidFill>
                <a:latin typeface="Calibri"/>
              </a:rPr>
              <a:t>Ishlaydigan platforma</a:t>
            </a:r>
          </a:p>
          <a:p>
            <a:pPr algn="l">
              <a:lnSpc>
                <a:spcPct val="118000"/>
              </a:lnSpc>
            </a:pPr>
            <a:r>
              <a:rPr sz="800" b="0">
                <a:solidFill>
                  <a:srgbClr val="D1D5DB"/>
                </a:solidFill>
                <a:latin typeface="Calibri"/>
              </a:rPr>
              <a:t>121k qator kod, 52 test</a:t>
            </a:r>
          </a:p>
          <a:p>
            <a:pPr algn="l">
              <a:lnSpc>
                <a:spcPct val="118000"/>
              </a:lnSpc>
            </a:pPr>
            <a:r>
              <a:rPr sz="800" b="0">
                <a:solidFill>
                  <a:srgbClr val="D1D5DB"/>
                </a:solidFill>
                <a:latin typeface="Calibri"/>
              </a:rPr>
              <a:t>Gemini Live uz-UZ jonli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80360" y="2532888"/>
            <a:ext cx="274320" cy="27432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99232" y="2807208"/>
            <a:ext cx="36576" cy="64008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68879" y="3447288"/>
            <a:ext cx="1828800" cy="88696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68879" y="3447288"/>
            <a:ext cx="182880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06040" y="3538728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5534B"/>
                </a:solidFill>
                <a:latin typeface="Consolas"/>
              </a:rPr>
              <a:t>6 oy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3794760"/>
            <a:ext cx="1600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>
                <a:solidFill>
                  <a:srgbClr val="D1D5DB"/>
                </a:solidFill>
                <a:latin typeface="Calibri"/>
              </a:rPr>
              <a:t>Vazirlikda pilot</a:t>
            </a:r>
          </a:p>
          <a:p>
            <a:pPr algn="l">
              <a:lnSpc>
                <a:spcPct val="118000"/>
              </a:lnSpc>
            </a:pPr>
            <a:r>
              <a:rPr sz="800" b="0">
                <a:solidFill>
                  <a:srgbClr val="D1D5DB"/>
                </a:solidFill>
                <a:latin typeface="Calibri"/>
              </a:rPr>
              <a:t>10 ta OTM</a:t>
            </a:r>
          </a:p>
          <a:p>
            <a:pPr algn="l">
              <a:lnSpc>
                <a:spcPct val="118000"/>
              </a:lnSpc>
            </a:pPr>
            <a:r>
              <a:rPr sz="800" b="0">
                <a:solidFill>
                  <a:srgbClr val="D1D5DB"/>
                </a:solidFill>
                <a:latin typeface="Calibri"/>
              </a:rPr>
              <a:t>100 000 daqiqa/oy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92040" y="2532888"/>
            <a:ext cx="274320" cy="27432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10912" y="2002536"/>
            <a:ext cx="36576" cy="53035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59" y="1115568"/>
            <a:ext cx="1828800" cy="88696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80559" y="1115568"/>
            <a:ext cx="182880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1207008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5534B"/>
                </a:solidFill>
                <a:latin typeface="Consolas"/>
              </a:rPr>
              <a:t>1 yil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1463040"/>
            <a:ext cx="1600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>
                <a:solidFill>
                  <a:srgbClr val="D1D5DB"/>
                </a:solidFill>
                <a:latin typeface="Calibri"/>
              </a:rPr>
              <a:t>50 ta OTM</a:t>
            </a:r>
          </a:p>
          <a:p>
            <a:pPr algn="l">
              <a:lnSpc>
                <a:spcPct val="118000"/>
              </a:lnSpc>
            </a:pPr>
            <a:r>
              <a:rPr sz="800" b="0">
                <a:solidFill>
                  <a:srgbClr val="D1D5DB"/>
                </a:solidFill>
                <a:latin typeface="Calibri"/>
              </a:rPr>
              <a:t>O'z o'zbek ASR modeli</a:t>
            </a:r>
          </a:p>
          <a:p>
            <a:pPr algn="l">
              <a:lnSpc>
                <a:spcPct val="118000"/>
              </a:lnSpc>
            </a:pPr>
            <a:r>
              <a:rPr sz="800" b="0">
                <a:solidFill>
                  <a:srgbClr val="D1D5DB"/>
                </a:solidFill>
                <a:latin typeface="Calibri"/>
              </a:rPr>
              <a:t>~1,5 mlrd so'm ARR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03720" y="2532888"/>
            <a:ext cx="274320" cy="27432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22592" y="2807208"/>
            <a:ext cx="36576" cy="64008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92240" y="3447288"/>
            <a:ext cx="1828800" cy="88696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92240" y="3447288"/>
            <a:ext cx="182880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3538728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5534B"/>
                </a:solidFill>
                <a:latin typeface="Consolas"/>
              </a:rPr>
              <a:t>3 yil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794760"/>
            <a:ext cx="1600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>
                <a:solidFill>
                  <a:srgbClr val="D1D5DB"/>
                </a:solidFill>
                <a:latin typeface="Calibri"/>
              </a:rPr>
              <a:t>215 OTM + 3 vazirlik</a:t>
            </a:r>
          </a:p>
          <a:p>
            <a:pPr algn="l">
              <a:lnSpc>
                <a:spcPct val="118000"/>
              </a:lnSpc>
            </a:pPr>
            <a:r>
              <a:rPr sz="800" b="0">
                <a:solidFill>
                  <a:srgbClr val="D1D5DB"/>
                </a:solidFill>
                <a:latin typeface="Calibri"/>
              </a:rPr>
              <a:t>Qozog'iston, Qirg'iziston</a:t>
            </a:r>
          </a:p>
          <a:p>
            <a:pPr algn="l">
              <a:lnSpc>
                <a:spcPct val="118000"/>
              </a:lnSpc>
            </a:pPr>
            <a:r>
              <a:rPr sz="800" b="0">
                <a:solidFill>
                  <a:srgbClr val="D1D5DB"/>
                </a:solidFill>
                <a:latin typeface="Calibri"/>
              </a:rPr>
              <a:t>~12 mlrd so'm ARR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59028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Calibri"/>
              </a:rPr>
              <a:t>Pilot uchun hech qanday yangi infratuzilma shart emas — tizim vazirlikning mavjud serverida, mavjud SIP raqamlarida ishlaydi.</a:t>
            </a:r>
          </a:p>
        </p:txBody>
      </p:sp>
    </p:spTree>
  </p:cSld>
  <p:bg>
    <p:bgPr>
      <a:solidFill>
        <a:srgbClr val="0D1117"/>
      </a:solidFill>
      <a:effectLst/>
    </p:bgPr>
  </p:bg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E5534B"/>
                </a:solidFill>
                <a:latin typeface="Consolas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Jamoa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54864" cy="36576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94944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Kim quradi, qanday tajriba bilan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07008"/>
            <a:ext cx="2011680" cy="324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07008"/>
            <a:ext cx="201168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1389888"/>
            <a:ext cx="914400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536192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Calibri"/>
              </a:rPr>
              <a:t>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432304"/>
            <a:ext cx="17556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Azizbek Atoyev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2761488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E5534B"/>
                </a:solidFill>
                <a:latin typeface="Calibri"/>
              </a:rPr>
              <a:t>CEO / Loyiha rahbari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108960"/>
            <a:ext cx="1463040" cy="182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3218688"/>
            <a:ext cx="175564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</a:pPr>
            <a:r>
              <a:rPr sz="850" b="0">
                <a:solidFill>
                  <a:srgbClr val="9CA3AF"/>
                </a:solidFill>
                <a:latin typeface="Calibri"/>
              </a:rPr>
              <a:t>Full-stack va AI muhandis. Milliy AI xakaton g'olibi. AviRadiology va AviShifo SaaS platformalari asoschisi.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" y="4133087"/>
            <a:ext cx="17556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D1D5DB"/>
                </a:solidFill>
                <a:latin typeface="Consolas"/>
              </a:rPr>
              <a:t>Django, React, Node.js, AI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33472" y="1207008"/>
            <a:ext cx="2011680" cy="324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33472" y="1207008"/>
            <a:ext cx="201168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182112" y="1389888"/>
            <a:ext cx="914400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82112" y="1536192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Calibri"/>
              </a:rPr>
              <a:t>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61488" y="2432304"/>
            <a:ext cx="17556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F.I.Sh.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61488" y="2761488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E5534B"/>
                </a:solidFill>
                <a:latin typeface="Calibri"/>
              </a:rPr>
              <a:t>CTO / Bosh dasturchi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07791" y="3108960"/>
            <a:ext cx="1463040" cy="182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61488" y="3218688"/>
            <a:ext cx="175564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</a:pPr>
            <a:r>
              <a:rPr sz="850" b="0">
                <a:solidFill>
                  <a:srgbClr val="9CA3AF"/>
                </a:solidFill>
                <a:latin typeface="Calibri"/>
              </a:rPr>
              <a:t>Backend va telefoniya: Asterisk, SIP, real-time audio.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61488" y="4133087"/>
            <a:ext cx="17556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D1D5DB"/>
                </a:solidFill>
                <a:latin typeface="Consolas"/>
              </a:rPr>
              <a:t>_____ yil tajriba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09744" y="1207008"/>
            <a:ext cx="2011680" cy="324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09744" y="1207008"/>
            <a:ext cx="201168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58383" y="1389888"/>
            <a:ext cx="914400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58383" y="1536192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Calibri"/>
              </a:rPr>
              <a:t>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59" y="2432304"/>
            <a:ext cx="17556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F.I.Sh.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59" y="2761488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E5534B"/>
                </a:solidFill>
                <a:latin typeface="Calibri"/>
              </a:rPr>
              <a:t>Designer / UI-UX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84064" y="3108960"/>
            <a:ext cx="1463040" cy="182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37759" y="3218688"/>
            <a:ext cx="175564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</a:pPr>
            <a:r>
              <a:rPr sz="850" b="0">
                <a:solidFill>
                  <a:srgbClr val="9CA3AF"/>
                </a:solidFill>
                <a:latin typeface="Calibri"/>
              </a:rPr>
              <a:t>Dashboard va operator interfeysi.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59" y="4133087"/>
            <a:ext cx="17556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D1D5DB"/>
                </a:solidFill>
                <a:latin typeface="Consolas"/>
              </a:rPr>
              <a:t>_____ yil tajriba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86016" y="1207008"/>
            <a:ext cx="2011680" cy="324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986016" y="1207008"/>
            <a:ext cx="201168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534656" y="1389888"/>
            <a:ext cx="914400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34656" y="1536192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14031" y="2432304"/>
            <a:ext cx="17556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F.I.Sh.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14031" y="2761488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E5534B"/>
                </a:solidFill>
                <a:latin typeface="Calibri"/>
              </a:rPr>
              <a:t>Biznes analitik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60336" y="3108960"/>
            <a:ext cx="1463040" cy="182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14031" y="3218688"/>
            <a:ext cx="175564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</a:pPr>
            <a:r>
              <a:rPr sz="850" b="0">
                <a:solidFill>
                  <a:srgbClr val="9CA3AF"/>
                </a:solidFill>
                <a:latin typeface="Calibri"/>
              </a:rPr>
              <a:t>Davlat xaridlari, pilot va joriy etish.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14031" y="4133087"/>
            <a:ext cx="17556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D1D5DB"/>
                </a:solidFill>
                <a:latin typeface="Consolas"/>
              </a:rPr>
              <a:t>_____ yil tajriba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459028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Calibri"/>
              </a:rPr>
              <a:t>EduVoice AI — Umummilliy AI Xakaton, Xorazm viloyati, 2026</a:t>
            </a:r>
          </a:p>
        </p:txBody>
      </p:sp>
    </p:spTree>
  </p:cSld>
  <p:bg>
    <p:bgPr>
      <a:solidFill>
        <a:srgbClr val="0D1117"/>
      </a:solidFill>
      <a:effectLst/>
    </p:bgPr>
  </p:bg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